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svg"/><Relationship Id="rId12" Type="http://schemas.openxmlformats.org/officeDocument/2006/relationships/image" Target="../media/image-6-12.png"/><Relationship Id="rId13" Type="http://schemas.openxmlformats.org/officeDocument/2006/relationships/image" Target="../media/image-6-13.sv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svg"/><Relationship Id="rId12" Type="http://schemas.openxmlformats.org/officeDocument/2006/relationships/image" Target="../media/image-7-12.png"/><Relationship Id="rId13" Type="http://schemas.openxmlformats.org/officeDocument/2006/relationships/image" Target="../media/image-7-13.svg"/><Relationship Id="rId14" Type="http://schemas.openxmlformats.org/officeDocument/2006/relationships/image" Target="../media/image-7-14.png"/><Relationship Id="rId15" Type="http://schemas.openxmlformats.org/officeDocument/2006/relationships/image" Target="../media/image-7-15.svg"/><Relationship Id="rId16" Type="http://schemas.openxmlformats.org/officeDocument/2006/relationships/image" Target="../media/image-7-16.png"/><Relationship Id="rId17" Type="http://schemas.openxmlformats.org/officeDocument/2006/relationships/image" Target="../media/image-7-17.svg"/><Relationship Id="rId18" Type="http://schemas.openxmlformats.org/officeDocument/2006/relationships/image" Target="../media/image-7-18.png"/><Relationship Id="rId19" Type="http://schemas.openxmlformats.org/officeDocument/2006/relationships/image" Target="../media/image-7-19.svg"/><Relationship Id="rId20" Type="http://schemas.openxmlformats.org/officeDocument/2006/relationships/image" Target="../media/image-7-20.png"/><Relationship Id="rId21" Type="http://schemas.openxmlformats.org/officeDocument/2006/relationships/image" Target="../media/image-7-21.svg"/><Relationship Id="rId22" Type="http://schemas.openxmlformats.org/officeDocument/2006/relationships/image" Target="../media/image-7-22.png"/><Relationship Id="rId23" Type="http://schemas.openxmlformats.org/officeDocument/2006/relationships/image" Target="../media/image-7-23.svg"/><Relationship Id="rId24" Type="http://schemas.openxmlformats.org/officeDocument/2006/relationships/image" Target="../media/image-7-24.png"/><Relationship Id="rId25" Type="http://schemas.openxmlformats.org/officeDocument/2006/relationships/image" Target="../media/image-7-25.svg"/><Relationship Id="rId26" Type="http://schemas.openxmlformats.org/officeDocument/2006/relationships/image" Target="../media/image-7-26.png"/><Relationship Id="rId27" Type="http://schemas.openxmlformats.org/officeDocument/2006/relationships/image" Target="../media/image-7-27.svg"/><Relationship Id="rId28" Type="http://schemas.openxmlformats.org/officeDocument/2006/relationships/image" Target="../media/image-7-28.png"/><Relationship Id="rId29" Type="http://schemas.openxmlformats.org/officeDocument/2006/relationships/image" Target="../media/image-7-29.svg"/><Relationship Id="rId30" Type="http://schemas.openxmlformats.org/officeDocument/2006/relationships/image" Target="../media/image-7-30.png"/><Relationship Id="rId31" Type="http://schemas.openxmlformats.org/officeDocument/2006/relationships/image" Target="../media/image-7-31.sv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svg"/><Relationship Id="rId4" Type="http://schemas.openxmlformats.org/officeDocument/2006/relationships/image" Target="../media/image-13-4.png"/><Relationship Id="rId5" Type="http://schemas.openxmlformats.org/officeDocument/2006/relationships/image" Target="../media/image-13-5.svg"/><Relationship Id="rId6" Type="http://schemas.openxmlformats.org/officeDocument/2006/relationships/image" Target="../media/image-13-6.png"/><Relationship Id="rId7" Type="http://schemas.openxmlformats.org/officeDocument/2006/relationships/image" Target="../media/image-13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svg"/><Relationship Id="rId4" Type="http://schemas.openxmlformats.org/officeDocument/2006/relationships/image" Target="../media/image-16-4.png"/><Relationship Id="rId5" Type="http://schemas.openxmlformats.org/officeDocument/2006/relationships/image" Target="../media/image-16-5.sv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822960"/>
            <a:ext cx="1216152" cy="12161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19456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Muelle Digital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0" y="30175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de experiencias ecoturísticas fluviales · Barrancabermeja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14400" y="402336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EDE9FD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Esteban Merlano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 · Backend · Despliegue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11880" y="402336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EDE9FD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1188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Andres Rangel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11880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309360" y="402336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EDE9FD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Keyner Trujillo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09360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006840" y="402336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EDE9FD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0684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Jhon Escobar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006840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0" y="58521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4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Ingeniería de Software · Metodología SDD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566928"/>
          </a:xfrm>
          <a:prstGeom prst="rect">
            <a:avLst/>
          </a:prstGeom>
          <a:solidFill>
            <a:srgbClr val="7841D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Muelle Digital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" y="12801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ecoturismo fluvial en Barrancabermeja se ofrece de forma INFORMAL: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01168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un canal centralizado para reservar.</a:t>
            </a:r>
            <a:endParaRPr lang="en-US" sz="18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Precios poco claros y sin pagos digitales.</a:t>
            </a:r>
            <a:endParaRPr lang="en-US" sz="18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confianza y reputación de los guías.</a:t>
            </a:r>
            <a:endParaRPr lang="en-US" sz="18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turistas no saben a quién contactar.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566928"/>
          </a:xfrm>
          <a:prstGeom prst="rect">
            <a:avLst/>
          </a:prstGeom>
          <a:solidFill>
            <a:srgbClr val="7841D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Muelle Digital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" y="12801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Muelle Digital conecta turistas con guías y pescadores locales verificados: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14400" y="210312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EDE9FD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2860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🛶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91440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Descubrir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3474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con filtros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11880" y="210312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EDE9FD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11880" y="22860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📅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361188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611880" y="3474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cupos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309360" y="210312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EDE9FD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22860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💳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630936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Pagar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309360" y="3474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línea con Stripe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006840" y="210312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EDE9FD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06840" y="22860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⭐</a:t>
            </a:r>
            <a:endParaRPr lang="en-US" sz="4000" dirty="0"/>
          </a:p>
        </p:txBody>
      </p:sp>
      <p:sp>
        <p:nvSpPr>
          <p:cNvPr id="21" name="Text 18"/>
          <p:cNvSpPr/>
          <p:nvPr/>
        </p:nvSpPr>
        <p:spPr>
          <a:xfrm>
            <a:off x="900684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Calificar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006840" y="3474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Reseñas en vivo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7240" y="45720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punto de encuentro geolocalizado en un mapa.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566928"/>
          </a:xfrm>
          <a:prstGeom prst="rect">
            <a:avLst/>
          </a:prstGeom>
          <a:solidFill>
            <a:srgbClr val="7841D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Muelle Digital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77240" y="128016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EDE9FD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37160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General:  </a:t>
            </a:r>
            <a:pPr indent="0" marL="0">
              <a:buNone/>
            </a:pPr>
            <a:r>
              <a:rPr lang="en-US" sz="16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una plataforma web tipo marketplace para reservar y pagar experiencias ecoturísticas fluviales.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4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Específicos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926080"/>
            <a:ext cx="10058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Reservas digitales con control de cupos.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Pagos en línea (Stripe) y métodos locales simulados.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reputación con reseñas en tiempo real.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Geolocalización del punto de encuentro.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de guías por el administrador.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566928"/>
          </a:xfrm>
          <a:prstGeom prst="rect">
            <a:avLst/>
          </a:prstGeom>
          <a:solidFill>
            <a:srgbClr val="7841D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y roles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Muelle Digital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77240" y="14630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7373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🧳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Turista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32004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Busca, reserva, paga y califica experiencias.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14630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0" y="17373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🛶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4389120" y="2651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/ Pescador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572000" y="32004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 experiencias y marca el punto de encuentro (previa verificación).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01000" y="14630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01000" y="17373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🛡️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8001000" y="2651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183880" y="32004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guías y gestiona usuarios, experiencias y pagos.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566928"/>
          </a:xfrm>
          <a:prstGeom prst="rect">
            <a:avLst/>
          </a:prstGeom>
          <a:solidFill>
            <a:srgbClr val="7841D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sistema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Muelle Digital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14400" y="2011680"/>
            <a:ext cx="3108960" cy="2194560"/>
          </a:xfrm>
          <a:prstGeom prst="roundRect">
            <a:avLst>
              <a:gd name="adj" fmla="val 3333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011680"/>
            <a:ext cx="3108960" cy="2194560"/>
          </a:xfrm>
          <a:prstGeom prst="roundRect">
            <a:avLst>
              <a:gd name="adj" fmla="val 3333"/>
            </a:avLst>
          </a:prstGeom>
          <a:ln w="25400">
            <a:solidFill>
              <a:srgbClr val="7841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SPA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0" y="3291840"/>
            <a:ext cx="502920" cy="50292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68880" y="329184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2336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841D4"/>
                </a:solidFill>
              </a:rPr>
              <a:t>➜</a:t>
            </a:r>
            <a:endParaRPr lang="en-US" sz="2800" dirty="0"/>
          </a:p>
        </p:txBody>
      </p:sp>
      <p:sp>
        <p:nvSpPr>
          <p:cNvPr id="13" name="Shape 8"/>
          <p:cNvSpPr/>
          <p:nvPr/>
        </p:nvSpPr>
        <p:spPr>
          <a:xfrm>
            <a:off x="4754880" y="2011680"/>
            <a:ext cx="3108960" cy="2194560"/>
          </a:xfrm>
          <a:prstGeom prst="roundRect">
            <a:avLst>
              <a:gd name="adj" fmla="val 3333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754880" y="2011680"/>
            <a:ext cx="3108960" cy="2194560"/>
          </a:xfrm>
          <a:prstGeom prst="roundRect">
            <a:avLst>
              <a:gd name="adj" fmla="val 3333"/>
            </a:avLst>
          </a:prstGeom>
          <a:ln w="25400">
            <a:solidFill>
              <a:srgbClr val="7841D4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75488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75488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+ Express · JWT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69280" y="3291840"/>
            <a:ext cx="502920" cy="502920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09360" y="3291840"/>
            <a:ext cx="502920" cy="5029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86384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841D4"/>
                </a:solidFill>
              </a:rPr>
              <a:t>➜</a:t>
            </a:r>
            <a:endParaRPr lang="en-US" sz="2800" dirty="0"/>
          </a:p>
        </p:txBody>
      </p:sp>
      <p:sp>
        <p:nvSpPr>
          <p:cNvPr id="20" name="Shape 13"/>
          <p:cNvSpPr/>
          <p:nvPr/>
        </p:nvSpPr>
        <p:spPr>
          <a:xfrm>
            <a:off x="8595360" y="2011680"/>
            <a:ext cx="3108960" cy="2194560"/>
          </a:xfrm>
          <a:prstGeom prst="roundRect">
            <a:avLst>
              <a:gd name="adj" fmla="val 3333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8595360" y="2011680"/>
            <a:ext cx="3108960" cy="2194560"/>
          </a:xfrm>
          <a:prstGeom prst="roundRect">
            <a:avLst>
              <a:gd name="adj" fmla="val 3333"/>
            </a:avLst>
          </a:prstGeom>
          <a:ln w="25400">
            <a:solidFill>
              <a:srgbClr val="7841D4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859536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859536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· Neon</a:t>
            </a:r>
            <a:endParaRPr lang="en-US" sz="12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09760" y="3291840"/>
            <a:ext cx="502920" cy="502920"/>
          </a:xfrm>
          <a:prstGeom prst="rect">
            <a:avLst/>
          </a:prstGeom>
        </p:spPr>
      </p:pic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49840" y="3291840"/>
            <a:ext cx="502920" cy="5029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0" y="4846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con JWT en cada petición · Desplegado serverless en Vercel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566928"/>
          </a:xfrm>
          <a:prstGeom prst="rect">
            <a:avLst/>
          </a:prstGeom>
          <a:solidFill>
            <a:srgbClr val="7841D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tecnológico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Muelle Digital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" y="1234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84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77240" y="150876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0472" y="1655064"/>
            <a:ext cx="585216" cy="5852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286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971800" y="150876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5032" y="1655064"/>
            <a:ext cx="585216" cy="5852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971800" y="2286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166360" y="150876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9592" y="1655064"/>
            <a:ext cx="585216" cy="58521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66360" y="2286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7360920" y="150876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74152" y="1655064"/>
            <a:ext cx="585216" cy="58521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360920" y="2286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MapLibre/OSM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9555480" y="150876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68712" y="1655064"/>
            <a:ext cx="585216" cy="58521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555480" y="2286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777240" y="2880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84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777240" y="315468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90472" y="3300984"/>
            <a:ext cx="585216" cy="58521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77240" y="3931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2971800" y="315468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685032" y="3300984"/>
            <a:ext cx="585216" cy="58521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2971800" y="3931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5166360" y="315468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79592" y="3300984"/>
            <a:ext cx="585216" cy="585216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166360" y="3931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7360920" y="315468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074152" y="3300984"/>
            <a:ext cx="585216" cy="585216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7360920" y="3931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000" dirty="0"/>
          </a:p>
        </p:txBody>
      </p:sp>
      <p:sp>
        <p:nvSpPr>
          <p:cNvPr id="35" name="Text 23"/>
          <p:cNvSpPr/>
          <p:nvPr/>
        </p:nvSpPr>
        <p:spPr>
          <a:xfrm>
            <a:off x="777240" y="4526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84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Y DESPLIEGUE</a:t>
            </a:r>
            <a:endParaRPr lang="en-US" sz="1100" dirty="0"/>
          </a:p>
        </p:txBody>
      </p:sp>
      <p:sp>
        <p:nvSpPr>
          <p:cNvPr id="36" name="Shape 24"/>
          <p:cNvSpPr/>
          <p:nvPr/>
        </p:nvSpPr>
        <p:spPr>
          <a:xfrm>
            <a:off x="777240" y="480060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330452" y="4946904"/>
            <a:ext cx="585216" cy="585216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777240" y="55778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39" name="Shape 26"/>
          <p:cNvSpPr/>
          <p:nvPr/>
        </p:nvSpPr>
        <p:spPr>
          <a:xfrm>
            <a:off x="2606040" y="480060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159252" y="4946904"/>
            <a:ext cx="585216" cy="585216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2606040" y="55778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NeonDB</a:t>
            </a:r>
            <a:endParaRPr lang="en-US" sz="1000" dirty="0"/>
          </a:p>
        </p:txBody>
      </p:sp>
      <p:sp>
        <p:nvSpPr>
          <p:cNvPr id="42" name="Shape 28"/>
          <p:cNvSpPr/>
          <p:nvPr/>
        </p:nvSpPr>
        <p:spPr>
          <a:xfrm>
            <a:off x="4434840" y="480060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988052" y="4946904"/>
            <a:ext cx="585216" cy="585216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4434840" y="55778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000" dirty="0"/>
          </a:p>
        </p:txBody>
      </p:sp>
      <p:sp>
        <p:nvSpPr>
          <p:cNvPr id="45" name="Shape 30"/>
          <p:cNvSpPr/>
          <p:nvPr/>
        </p:nvSpPr>
        <p:spPr>
          <a:xfrm>
            <a:off x="6263640" y="480060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816852" y="4946904"/>
            <a:ext cx="585216" cy="585216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6263640" y="55778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000" dirty="0"/>
          </a:p>
        </p:txBody>
      </p:sp>
      <p:sp>
        <p:nvSpPr>
          <p:cNvPr id="48" name="Shape 32"/>
          <p:cNvSpPr/>
          <p:nvPr/>
        </p:nvSpPr>
        <p:spPr>
          <a:xfrm>
            <a:off x="8092440" y="480060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pic>
        <p:nvPicPr>
          <p:cNvPr id="49" name="Image 14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645652" y="4946904"/>
            <a:ext cx="585216" cy="585216"/>
          </a:xfrm>
          <a:prstGeom prst="rect">
            <a:avLst/>
          </a:prstGeom>
        </p:spPr>
      </p:pic>
      <p:sp>
        <p:nvSpPr>
          <p:cNvPr id="50" name="Text 33"/>
          <p:cNvSpPr/>
          <p:nvPr/>
        </p:nvSpPr>
        <p:spPr>
          <a:xfrm>
            <a:off x="8092440" y="55778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</a:t>
            </a:r>
            <a:endParaRPr lang="en-US" sz="1000" dirty="0"/>
          </a:p>
        </p:txBody>
      </p:sp>
      <p:sp>
        <p:nvSpPr>
          <p:cNvPr id="51" name="Shape 34"/>
          <p:cNvSpPr/>
          <p:nvPr/>
        </p:nvSpPr>
        <p:spPr>
          <a:xfrm>
            <a:off x="9921240" y="480060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pic>
        <p:nvPicPr>
          <p:cNvPr id="52" name="Image 15" descr="preencoded.png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474452" y="4946904"/>
            <a:ext cx="585216" cy="585216"/>
          </a:xfrm>
          <a:prstGeom prst="rect">
            <a:avLst/>
          </a:prstGeom>
        </p:spPr>
      </p:pic>
      <p:sp>
        <p:nvSpPr>
          <p:cNvPr id="53" name="Text 35"/>
          <p:cNvSpPr/>
          <p:nvPr/>
        </p:nvSpPr>
        <p:spPr>
          <a:xfrm>
            <a:off x="9921240" y="55778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ClickUp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566928"/>
          </a:xfrm>
          <a:prstGeom prst="rect">
            <a:avLst/>
          </a:prstGeom>
          <a:solidFill>
            <a:srgbClr val="7841D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datos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Muelle Digital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" y="12344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(Neon) · 6 tablas · normalizado a 3FN · integridad referencial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77240" y="18288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965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2377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turista / guía / admin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34840" y="18288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7720" y="1965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617720" y="2377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precio, cupos, lat/lng, Stripe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92440" y="18288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75320" y="1965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75320" y="2377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fecha, personas, estado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" y="32918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3429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60120" y="3840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puntuación 1–5, comentario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434840" y="32918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17720" y="3429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617720" y="3840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método, valor, estado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2440" y="32918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75320" y="3429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solicitudes_guia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275320" y="3840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de guías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0" y="52120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84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1—N experiencias · experiencias 1—N reservas · reservas 1—N pagos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566928"/>
          </a:xfrm>
          <a:prstGeom prst="rect">
            <a:avLst/>
          </a:prstGeom>
          <a:solidFill>
            <a:srgbClr val="7841D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clave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Muelle Digital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77240" y="137160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🔎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783080" y="15727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con filtros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783080" y="20299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lista + detalle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137160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📅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269480" y="15727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269480" y="20299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control de cupos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" y="292608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3200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⭐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1783080" y="3127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Reseñas en tiempo real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783080" y="35844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Calificación 1–5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63640" y="292608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0" y="3200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🗺️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7269480" y="3127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del punto de encuentro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269480" y="35844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guía lo marca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77240" y="448056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4754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🛶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1783080" y="46817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del guía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783080" y="51389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 y gestiona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263640" y="448056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0" y="4754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🛡️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7269480" y="46817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admin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269480" y="51389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total + métricas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566928"/>
          </a:xfrm>
          <a:prstGeom prst="rect">
            <a:avLst/>
          </a:prstGeom>
          <a:solidFill>
            <a:srgbClr val="7841D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Pagos con Stripe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Muelle Digital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9280" y="1234440"/>
            <a:ext cx="822960" cy="4114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77240" y="219456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828800" y="2423160"/>
            <a:ext cx="502920" cy="502920"/>
          </a:xfrm>
          <a:prstGeom prst="ellipse">
            <a:avLst/>
          </a:prstGeom>
          <a:solidFill>
            <a:srgbClr val="512888"/>
          </a:solidFill>
          <a:ln/>
        </p:spPr>
      </p:sp>
      <p:sp>
        <p:nvSpPr>
          <p:cNvPr id="9" name="Text 5"/>
          <p:cNvSpPr/>
          <p:nvPr/>
        </p:nvSpPr>
        <p:spPr>
          <a:xfrm>
            <a:off x="182880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60120" y="30632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crear la experiencia se genera Producto + Precio en Stripe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520440" y="219456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2000" y="2423160"/>
            <a:ext cx="502920" cy="502920"/>
          </a:xfrm>
          <a:prstGeom prst="ellipse">
            <a:avLst/>
          </a:prstGeom>
          <a:solidFill>
            <a:srgbClr val="512888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703320" y="30632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reservar se crea una Checkout Session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63640" y="219456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0" y="2423160"/>
            <a:ext cx="502920" cy="502920"/>
          </a:xfrm>
          <a:prstGeom prst="ellipse">
            <a:avLst/>
          </a:prstGeom>
          <a:solidFill>
            <a:srgbClr val="512888"/>
          </a:solidFill>
          <a:ln/>
        </p:spPr>
      </p:sp>
      <p:sp>
        <p:nvSpPr>
          <p:cNvPr id="17" name="Text 13"/>
          <p:cNvSpPr/>
          <p:nvPr/>
        </p:nvSpPr>
        <p:spPr>
          <a:xfrm>
            <a:off x="731520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446520" y="30632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Confirmación por webhook + verificación (idempotente)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9006840" y="219456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0058400" y="2423160"/>
            <a:ext cx="502920" cy="502920"/>
          </a:xfrm>
          <a:prstGeom prst="ellipse">
            <a:avLst/>
          </a:prstGeom>
          <a:solidFill>
            <a:srgbClr val="512888"/>
          </a:solidFill>
          <a:ln/>
        </p:spPr>
      </p:sp>
      <p:sp>
        <p:nvSpPr>
          <p:cNvPr id="21" name="Text 17"/>
          <p:cNvSpPr/>
          <p:nvPr/>
        </p:nvSpPr>
        <p:spPr>
          <a:xfrm>
            <a:off x="1005840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9189720" y="30632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reserva pasa a confirmada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0" y="47548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de prueba · preparado para comisiones por guía (marketplace)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566928"/>
          </a:xfrm>
          <a:prstGeom prst="rect">
            <a:avLst/>
          </a:prstGeom>
          <a:solidFill>
            <a:srgbClr val="7841D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Mapas — punto de encuentro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Muelle Digital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" y="182880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7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guía marca el punto en el mapa al publicar.</a:t>
            </a:r>
            <a:endParaRPr lang="en-US" sz="17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7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turista lo visualiza en la oferta.</a:t>
            </a:r>
            <a:endParaRPr lang="en-US" sz="17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7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admin ve todos los puntos en un mapa global.</a:t>
            </a:r>
            <a:endParaRPr lang="en-US" sz="17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7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 gratis y sin API key.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15200" y="173736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EDE9FD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0" y="21031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📍🗺️</a:t>
            </a:r>
            <a:endParaRPr lang="en-US" sz="5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95360" y="3383280"/>
            <a:ext cx="640080" cy="64008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18320" y="338328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15200" y="4114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MapLibre GL + OpenStreetMap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566928"/>
          </a:xfrm>
          <a:prstGeom prst="rect">
            <a:avLst/>
          </a:prstGeom>
          <a:solidFill>
            <a:srgbClr val="7841D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Muelle Digital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68680" y="155448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Contraseñas cifradas con bcrypt.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JWT por rol.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restringido (turista/guía/admin).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09360" y="155448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Claves en variables de entorno (no en el código).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parametrizadas (anti SQL injection).</a:t>
            </a:r>
            <a:endParaRPr lang="en-US" sz="16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SSL a la base de datos.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108960" y="4206240"/>
            <a:ext cx="5943600" cy="731520"/>
          </a:xfrm>
          <a:prstGeom prst="roundRect">
            <a:avLst>
              <a:gd name="adj" fmla="val 50000"/>
            </a:avLst>
          </a:prstGeom>
          <a:solidFill>
            <a:srgbClr val="512888"/>
          </a:solidFill>
          <a:ln/>
        </p:spPr>
      </p:sp>
      <p:sp>
        <p:nvSpPr>
          <p:cNvPr id="9" name="Text 6"/>
          <p:cNvSpPr/>
          <p:nvPr/>
        </p:nvSpPr>
        <p:spPr>
          <a:xfrm>
            <a:off x="3108960" y="420624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El rol "guía" solo lo aprueba el administrador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566928"/>
          </a:xfrm>
          <a:prstGeom prst="rect">
            <a:avLst/>
          </a:prstGeom>
          <a:solidFill>
            <a:srgbClr val="7841D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y gestión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Muelle Digital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77240" y="146304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EDE9FD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21945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Spec-Driven: especificar antes de programar, con trazabilidad.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146304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EDE9FD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3484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617720" y="21945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semanas: definición, arquitectura, 4 sprints, QA y entrega.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92440" y="146304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EDE9FD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9244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GitFlow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275320" y="21945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Ramas por rol + develop + producción, con Pull Requests.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37760" y="3931920"/>
            <a:ext cx="640080" cy="640080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0" y="3931920"/>
            <a:ext cx="640080" cy="64008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49440" y="39319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566928"/>
          </a:xfrm>
          <a:prstGeom prst="rect">
            <a:avLst/>
          </a:prstGeom>
          <a:solidFill>
            <a:srgbClr val="7841D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Muelle Digital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77240" y="146304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1645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Esteban Merlano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1031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 del proyecto, desarrollo del backend/API, integración y despliegue a producción.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46304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1645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Andres Rangel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46520" y="21031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del modelo de datos, normalización, seguridad e integridad de la información.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" y="329184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3474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Keyner Trujillo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60120" y="39319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del frontend en React, UX/UI y consumo de la API.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63640" y="329184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3474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Jhon Escobar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46520" y="39319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Aseguramiento de calidad: plan de pruebas, seguridad y revisión de código.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566928"/>
          </a:xfrm>
          <a:prstGeom prst="rect">
            <a:avLst/>
          </a:prstGeom>
          <a:solidFill>
            <a:srgbClr val="7841D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y pruebas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Muelle Digital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77240" y="173736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20116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960120" y="30175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prueba (15 funcionales + 7 de seguridad)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173736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34840" y="20116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4617720" y="30175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encontrados y corregidos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92440" y="173736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6F4FE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92440" y="20116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8275320" y="30175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exitosos tras correcciones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0" y="45720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de código por Pull Requests antes de integrar.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566928"/>
          </a:xfrm>
          <a:prstGeom prst="rect">
            <a:avLst/>
          </a:prstGeom>
          <a:solidFill>
            <a:srgbClr val="7841D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— ¡en producción!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Muelle Digital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1371600"/>
            <a:ext cx="594360" cy="59436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91640" y="1371600"/>
            <a:ext cx="594360" cy="59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56032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+ NeonDB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868680" y="237744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7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App:  muelle-digital.vercel.app</a:t>
            </a:r>
            <a:endParaRPr lang="en-US" sz="17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7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API:  muelle-digital-api.vercel.app</a:t>
            </a:r>
            <a:endParaRPr lang="en-US" sz="17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7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de entorno cifradas.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2011680"/>
            <a:ext cx="2377440" cy="23774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2960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Escanea y pruébalo en vivo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8872" cy="566928"/>
          </a:xfrm>
          <a:prstGeom prst="rect">
            <a:avLst/>
          </a:prstGeom>
          <a:solidFill>
            <a:srgbClr val="7841D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y trabajo futuro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6400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Muelle Digital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77240" y="155448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EDE9FD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1737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Resultados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228600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13/13 historias de usuario implementadas.</a:t>
            </a:r>
            <a:endParaRPr lang="en-US" sz="13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funcional y desplegado.</a:t>
            </a:r>
            <a:endParaRPr lang="en-US" sz="13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Pagos y mapas operativos.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EDE9FD"/>
          </a:solidFill>
          <a:ln w="12700">
            <a:solidFill>
              <a:srgbClr val="E2DAF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1737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12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Trabajo futuro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37960" y="228600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Connect (comisiones por guía).</a:t>
            </a:r>
            <a:endParaRPr lang="en-US" sz="13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automatizadas (CI/CD).</a:t>
            </a:r>
            <a:endParaRPr lang="en-US" sz="13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241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móvil.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5128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2704" y="128016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37744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0" y="33832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E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Muelle Digital — un producto real, funcional y desplegado.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39319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B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muelle-digital.vercel.app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0" y="50292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A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Esteban Merlano · Andres Rangel · Keyner Trujillo · Jhon Escobar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Muelle Digital — Sustentación</dc:title>
  <dc:subject>PptxGenJS Presentation</dc:subject>
  <dc:creator>Equipo Muelle Digital</dc:creator>
  <cp:lastModifiedBy>Equipo Muelle Digital</cp:lastModifiedBy>
  <cp:revision>1</cp:revision>
  <dcterms:created xsi:type="dcterms:W3CDTF">2026-06-01T14:57:00Z</dcterms:created>
  <dcterms:modified xsi:type="dcterms:W3CDTF">2026-06-01T14:57:00Z</dcterms:modified>
</cp:coreProperties>
</file>